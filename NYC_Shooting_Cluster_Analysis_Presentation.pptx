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Incidents by number of victims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 by number of victims</c:v>
                </c:pt>
              </c:strCache>
            </c:strRef>
          </c:tx>
          <c:spPr>
            <a:solidFill>
              <a:srgbClr val="1226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17899</c:v>
                </c:pt>
                <c:pt idx="1">
                  <c:v>2489</c:v>
                </c:pt>
                <c:pt idx="2">
                  <c:v>313</c:v>
                </c:pt>
                <c:pt idx="3">
                  <c:v>531</c:v>
                </c:pt>
                <c:pt idx="4">
                  <c:v>188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Missing values by field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Location description (LOC_OF_OCCUR)</c:v>
                  </c:pt>
                  <c:pt idx="1">
                    <c:v>Location class</c:v>
                  </c:pt>
                  <c:pt idx="2">
                    <c:v>Location detail</c:v>
                  </c:pt>
                  <c:pt idx="3">
                    <c:v>Perp. age group</c:v>
                  </c:pt>
                  <c:pt idx="4">
                    <c:v>Perp. sex / race</c:v>
                  </c:pt>
                  <c:pt idx="5">
                    <c:v>Lat / Lon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93.7</c:v>
                </c:pt>
                <c:pt idx="1">
                  <c:v>93.7</c:v>
                </c:pt>
                <c:pt idx="2">
                  <c:v>54.8</c:v>
                </c:pt>
                <c:pt idx="3">
                  <c:v>34.2</c:v>
                </c:pt>
                <c:pt idx="4">
                  <c:v>34.1</c:v>
                </c:pt>
                <c:pt idx="5">
                  <c:v>0.04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Victim records per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12263F"/>
            </a:solidFill>
            <a:ln w="31750" cap="flat">
              <a:solidFill>
                <a:srgbClr val="1226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263F"/>
              </a:solidFill>
              <a:ln w="9525" cap="flat">
                <a:solidFill>
                  <a:srgbClr val="1226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06</c:v>
                  </c:pt>
                  <c:pt idx="1">
                    <c:v>07</c:v>
                  </c:pt>
                  <c:pt idx="2">
                    <c:v>08</c:v>
                  </c:pt>
                  <c:pt idx="3">
                    <c:v>09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  <c:pt idx="13">
                    <c:v>19</c:v>
                  </c:pt>
                  <c:pt idx="14">
                    <c:v>20</c:v>
                  </c:pt>
                  <c:pt idx="15">
                    <c:v>21</c:v>
                  </c:pt>
                  <c:pt idx="16">
                    <c:v>22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2055</c:v>
                </c:pt>
                <c:pt idx="1">
                  <c:v>1887</c:v>
                </c:pt>
                <c:pt idx="2">
                  <c:v>1959</c:v>
                </c:pt>
                <c:pt idx="3">
                  <c:v>1828</c:v>
                </c:pt>
                <c:pt idx="4">
                  <c:v>1912</c:v>
                </c:pt>
                <c:pt idx="5">
                  <c:v>1939</c:v>
                </c:pt>
                <c:pt idx="6">
                  <c:v>1717</c:v>
                </c:pt>
                <c:pt idx="7">
                  <c:v>1339</c:v>
                </c:pt>
                <c:pt idx="8">
                  <c:v>1464</c:v>
                </c:pt>
                <c:pt idx="9">
                  <c:v>1434</c:v>
                </c:pt>
                <c:pt idx="10">
                  <c:v>1208</c:v>
                </c:pt>
                <c:pt idx="11">
                  <c:v>970</c:v>
                </c:pt>
                <c:pt idx="12">
                  <c:v>958</c:v>
                </c:pt>
                <c:pt idx="13">
                  <c:v>967</c:v>
                </c:pt>
                <c:pt idx="14">
                  <c:v>1948</c:v>
                </c:pt>
                <c:pt idx="15">
                  <c:v>2011</c:v>
                </c:pt>
                <c:pt idx="16">
                  <c:v>1716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Records by hour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 by hour of day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2186</c:v>
                </c:pt>
                <c:pt idx="1">
                  <c:v>2081</c:v>
                </c:pt>
                <c:pt idx="2">
                  <c:v>1812</c:v>
                </c:pt>
                <c:pt idx="3">
                  <c:v>1633</c:v>
                </c:pt>
                <c:pt idx="4">
                  <c:v>1441</c:v>
                </c:pt>
                <c:pt idx="5">
                  <c:v>702</c:v>
                </c:pt>
                <c:pt idx="6">
                  <c:v>366</c:v>
                </c:pt>
                <c:pt idx="7">
                  <c:v>233</c:v>
                </c:pt>
                <c:pt idx="8">
                  <c:v>238</c:v>
                </c:pt>
                <c:pt idx="9">
                  <c:v>217</c:v>
                </c:pt>
                <c:pt idx="10">
                  <c:v>304</c:v>
                </c:pt>
                <c:pt idx="11">
                  <c:v>372</c:v>
                </c:pt>
                <c:pt idx="12">
                  <c:v>490</c:v>
                </c:pt>
                <c:pt idx="13">
                  <c:v>577</c:v>
                </c:pt>
                <c:pt idx="14">
                  <c:v>786</c:v>
                </c:pt>
                <c:pt idx="15">
                  <c:v>924</c:v>
                </c:pt>
                <c:pt idx="16">
                  <c:v>1034</c:v>
                </c:pt>
                <c:pt idx="17">
                  <c:v>1070</c:v>
                </c:pt>
                <c:pt idx="18">
                  <c:v>1247</c:v>
                </c:pt>
                <c:pt idx="19">
                  <c:v>1477</c:v>
                </c:pt>
                <c:pt idx="20">
                  <c:v>1684</c:v>
                </c:pt>
                <c:pt idx="21">
                  <c:v>1972</c:v>
                </c:pt>
                <c:pt idx="22">
                  <c:v>2162</c:v>
                </c:pt>
                <c:pt idx="23">
                  <c:v>2304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3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Silhouette score by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12263F"/>
            </a:solidFill>
            <a:ln w="31750" cap="flat">
              <a:solidFill>
                <a:srgbClr val="1226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263F"/>
              </a:solidFill>
              <a:ln w="9525" cap="flat">
                <a:solidFill>
                  <a:srgbClr val="1226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0.6026</c:v>
                </c:pt>
                <c:pt idx="1">
                  <c:v>0.6056</c:v>
                </c:pt>
                <c:pt idx="2">
                  <c:v>0.6135</c:v>
                </c:pt>
                <c:pt idx="3">
                  <c:v>0.5058</c:v>
                </c:pt>
                <c:pt idx="4">
                  <c:v>0.3985</c:v>
                </c:pt>
                <c:pt idx="5">
                  <c:v>0.4174</c:v>
                </c:pt>
                <c:pt idx="6">
                  <c:v>0.4319</c:v>
                </c:pt>
                <c:pt idx="7">
                  <c:v>0.4272</c:v>
                </c:pt>
                <c:pt idx="8">
                  <c:v>0.4414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Noise % and largest cluster % by eps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Noise %</c:v>
                </c:pt>
              </c:strCache>
            </c:strRef>
          </c:tx>
          <c:spPr>
            <a:solidFill>
              <a:srgbClr val="E8702A"/>
            </a:solidFill>
            <a:ln w="31750" cap="flat">
              <a:solidFill>
                <a:srgbClr val="E870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02A"/>
              </a:solidFill>
              <a:ln w="9525" cap="flat">
                <a:solidFill>
                  <a:srgbClr val="E87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500</c:v>
                  </c:pt>
                  <c:pt idx="1">
                    <c:v>750</c:v>
                  </c:pt>
                  <c:pt idx="2">
                    <c:v>1000</c:v>
                  </c:pt>
                  <c:pt idx="3">
                    <c:v>1250</c:v>
                  </c:pt>
                  <c:pt idx="4">
                    <c:v>1500</c:v>
                  </c:pt>
                  <c:pt idx="5">
                    <c:v>1750</c:v>
                  </c:pt>
                  <c:pt idx="6">
                    <c:v>2000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49.95</c:v>
                </c:pt>
                <c:pt idx="1">
                  <c:v>25.14</c:v>
                </c:pt>
                <c:pt idx="2">
                  <c:v>14.79</c:v>
                </c:pt>
                <c:pt idx="3">
                  <c:v>9.67</c:v>
                </c:pt>
                <c:pt idx="4">
                  <c:v>6.37</c:v>
                </c:pt>
                <c:pt idx="5">
                  <c:v>4.71</c:v>
                </c:pt>
                <c:pt idx="6">
                  <c:v>3.46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Largest cluster %</c:v>
                </c:pt>
              </c:strCache>
            </c:strRef>
          </c:tx>
          <c:spPr>
            <a:solidFill>
              <a:srgbClr val="12263F"/>
            </a:solidFill>
            <a:ln w="31750" cap="flat">
              <a:solidFill>
                <a:srgbClr val="1226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263F"/>
              </a:solidFill>
              <a:ln w="9525" cap="flat">
                <a:solidFill>
                  <a:srgbClr val="1226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500</c:v>
                  </c:pt>
                  <c:pt idx="1">
                    <c:v>750</c:v>
                  </c:pt>
                  <c:pt idx="2">
                    <c:v>1000</c:v>
                  </c:pt>
                  <c:pt idx="3">
                    <c:v>1250</c:v>
                  </c:pt>
                  <c:pt idx="4">
                    <c:v>1500</c:v>
                  </c:pt>
                  <c:pt idx="5">
                    <c:v>1750</c:v>
                  </c:pt>
                  <c:pt idx="6">
                    <c:v>2000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5.4</c:v>
                </c:pt>
                <c:pt idx="1">
                  <c:v>36.1</c:v>
                </c:pt>
                <c:pt idx="2">
                  <c:v>36.7</c:v>
                </c:pt>
                <c:pt idx="3">
                  <c:v>40.9</c:v>
                </c:pt>
                <c:pt idx="4">
                  <c:v>40.5</c:v>
                </c:pt>
                <c:pt idx="5">
                  <c:v>40.1</c:v>
                </c:pt>
                <c:pt idx="6">
                  <c:v>39.7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Clusters found by min_cluster_size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Clusters found by min_cluster_size</c:v>
                </c:pt>
              </c:strCache>
            </c:strRef>
          </c:tx>
          <c:spPr>
            <a:solidFill>
              <a:srgbClr val="1F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</c:v>
                  </c:pt>
                  <c:pt idx="1">
                    <c:v>50</c:v>
                  </c:pt>
                  <c:pt idx="2">
                    <c:v>75</c:v>
                  </c:pt>
                  <c:pt idx="3">
                    <c:v>100</c:v>
                  </c:pt>
                  <c:pt idx="4">
                    <c:v>150</c:v>
                  </c:pt>
                  <c:pt idx="5">
                    <c:v>200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216</c:v>
                </c:pt>
                <c:pt idx="1">
                  <c:v>56</c:v>
                </c:pt>
                <c:pt idx="2">
                  <c:v>18</c:v>
                </c:pt>
                <c:pt idx="3">
                  <c:v>13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Noise handling: noise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Noise handling: noise %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K-Means</c:v>
                  </c:pt>
                  <c:pt idx="1">
                    <c:v>DBSCAN</c:v>
                  </c:pt>
                  <c:pt idx="2">
                    <c:v>HDBSCAN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9.67</c:v>
                </c:pt>
                <c:pt idx="2">
                  <c:v>18.27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Top 8 hotspots by victims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8 hotspots by victims</c:v>
                </c:pt>
              </c:strCache>
            </c:strRef>
          </c:tx>
          <c:spPr>
            <a:solidFill>
              <a:srgbClr val="1226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#19 Brooklyn</c:v>
                  </c:pt>
                  <c:pt idx="1">
                    <c:v>#20 Manhattan</c:v>
                  </c:pt>
                  <c:pt idx="2">
                    <c:v>#43 Bronx</c:v>
                  </c:pt>
                  <c:pt idx="3">
                    <c:v>#51 Bronx</c:v>
                  </c:pt>
                  <c:pt idx="4">
                    <c:v>#55 Bronx</c:v>
                  </c:pt>
                  <c:pt idx="5">
                    <c:v>#1 Queens</c:v>
                  </c:pt>
                  <c:pt idx="6">
                    <c:v>#14 Queens</c:v>
                  </c:pt>
                  <c:pt idx="7">
                    <c:v>#52 Bronx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9991</c:v>
                </c:pt>
                <c:pt idx="1">
                  <c:v>2612</c:v>
                </c:pt>
                <c:pt idx="2">
                  <c:v>500</c:v>
                </c:pt>
                <c:pt idx="3">
                  <c:v>493</c:v>
                </c:pt>
                <c:pt idx="4">
                  <c:v>426</c:v>
                </c:pt>
                <c:pt idx="5">
                  <c:v>350</c:v>
                </c:pt>
                <c:pt idx="6">
                  <c:v>313</c:v>
                </c:pt>
                <c:pt idx="7">
                  <c:v>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Incidents per year by K-Means region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 0 (Staten Isl. / S. Bklyn)</c:v>
                </c:pt>
              </c:strCache>
            </c:strRef>
          </c:tx>
          <c:spPr>
            <a:solidFill>
              <a:srgbClr val="9AA8B8"/>
            </a:solidFill>
            <a:ln w="31750" cap="flat">
              <a:solidFill>
                <a:srgbClr val="9AA8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8B8"/>
              </a:solidFill>
              <a:ln w="9525" cap="flat">
                <a:solidFill>
                  <a:srgbClr val="9AA8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06</c:v>
                  </c:pt>
                  <c:pt idx="1">
                    <c:v>07</c:v>
                  </c:pt>
                  <c:pt idx="2">
                    <c:v>08</c:v>
                  </c:pt>
                  <c:pt idx="3">
                    <c:v>09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  <c:pt idx="13">
                    <c:v>19</c:v>
                  </c:pt>
                  <c:pt idx="14">
                    <c:v>20</c:v>
                  </c:pt>
                  <c:pt idx="15">
                    <c:v>21</c:v>
                  </c:pt>
                  <c:pt idx="16">
                    <c:v>22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68</c:v>
                </c:pt>
                <c:pt idx="1">
                  <c:v>66</c:v>
                </c:pt>
                <c:pt idx="2">
                  <c:v>74</c:v>
                </c:pt>
                <c:pt idx="3">
                  <c:v>79</c:v>
                </c:pt>
                <c:pt idx="4">
                  <c:v>59</c:v>
                </c:pt>
                <c:pt idx="5">
                  <c:v>72</c:v>
                </c:pt>
                <c:pt idx="6">
                  <c:v>64</c:v>
                </c:pt>
                <c:pt idx="7">
                  <c:v>79</c:v>
                </c:pt>
                <c:pt idx="8">
                  <c:v>66</c:v>
                </c:pt>
                <c:pt idx="9">
                  <c:v>75</c:v>
                </c:pt>
                <c:pt idx="10">
                  <c:v>59</c:v>
                </c:pt>
                <c:pt idx="11">
                  <c:v>58</c:v>
                </c:pt>
                <c:pt idx="12">
                  <c:v>28</c:v>
                </c:pt>
                <c:pt idx="13">
                  <c:v>45</c:v>
                </c:pt>
                <c:pt idx="14">
                  <c:v>70</c:v>
                </c:pt>
                <c:pt idx="15">
                  <c:v>64</c:v>
                </c:pt>
                <c:pt idx="16">
                  <c:v>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Region 1 (Queens)</c:v>
                </c:pt>
              </c:strCache>
            </c:strRef>
          </c:tx>
          <c:spPr>
            <a:solidFill>
              <a:srgbClr val="1F8A8A"/>
            </a:solidFill>
            <a:ln w="31750" cap="flat">
              <a:solidFill>
                <a:srgbClr val="1F8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8A8A"/>
              </a:solidFill>
              <a:ln w="9525" cap="flat">
                <a:solidFill>
                  <a:srgbClr val="1F8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06</c:v>
                  </c:pt>
                  <c:pt idx="1">
                    <c:v>07</c:v>
                  </c:pt>
                  <c:pt idx="2">
                    <c:v>08</c:v>
                  </c:pt>
                  <c:pt idx="3">
                    <c:v>09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  <c:pt idx="13">
                    <c:v>19</c:v>
                  </c:pt>
                  <c:pt idx="14">
                    <c:v>20</c:v>
                  </c:pt>
                  <c:pt idx="15">
                    <c:v>21</c:v>
                  </c:pt>
                  <c:pt idx="16">
                    <c:v>22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190</c:v>
                </c:pt>
                <c:pt idx="1">
                  <c:v>154</c:v>
                </c:pt>
                <c:pt idx="2">
                  <c:v>196</c:v>
                </c:pt>
                <c:pt idx="3">
                  <c:v>173</c:v>
                </c:pt>
                <c:pt idx="4">
                  <c:v>162</c:v>
                </c:pt>
                <c:pt idx="5">
                  <c:v>177</c:v>
                </c:pt>
                <c:pt idx="6">
                  <c:v>184</c:v>
                </c:pt>
                <c:pt idx="7">
                  <c:v>123</c:v>
                </c:pt>
                <c:pt idx="8">
                  <c:v>119</c:v>
                </c:pt>
                <c:pt idx="9">
                  <c:v>120</c:v>
                </c:pt>
                <c:pt idx="10">
                  <c:v>128</c:v>
                </c:pt>
                <c:pt idx="11">
                  <c:v>94</c:v>
                </c:pt>
                <c:pt idx="12">
                  <c:v>82</c:v>
                </c:pt>
                <c:pt idx="13">
                  <c:v>85</c:v>
                </c:pt>
                <c:pt idx="14">
                  <c:v>175</c:v>
                </c:pt>
                <c:pt idx="15">
                  <c:v>176</c:v>
                </c:pt>
                <c:pt idx="16">
                  <c:v>141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Region 2 (Brooklyn)</c:v>
                </c:pt>
              </c:strCache>
            </c:strRef>
          </c:tx>
          <c:spPr>
            <a:solidFill>
              <a:srgbClr val="12263F"/>
            </a:solidFill>
            <a:ln w="31750" cap="flat">
              <a:solidFill>
                <a:srgbClr val="1226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263F"/>
              </a:solidFill>
              <a:ln w="9525" cap="flat">
                <a:solidFill>
                  <a:srgbClr val="1226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06</c:v>
                  </c:pt>
                  <c:pt idx="1">
                    <c:v>07</c:v>
                  </c:pt>
                  <c:pt idx="2">
                    <c:v>08</c:v>
                  </c:pt>
                  <c:pt idx="3">
                    <c:v>09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  <c:pt idx="13">
                    <c:v>19</c:v>
                  </c:pt>
                  <c:pt idx="14">
                    <c:v>20</c:v>
                  </c:pt>
                  <c:pt idx="15">
                    <c:v>21</c:v>
                  </c:pt>
                  <c:pt idx="16">
                    <c:v>22</c:v>
                  </c:pt>
                </c:lvl>
              </c:multiLvlStrCache>
            </c:multiLvl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690</c:v>
                </c:pt>
                <c:pt idx="1">
                  <c:v>668</c:v>
                </c:pt>
                <c:pt idx="2">
                  <c:v>672</c:v>
                </c:pt>
                <c:pt idx="3">
                  <c:v>614</c:v>
                </c:pt>
                <c:pt idx="4">
                  <c:v>648</c:v>
                </c:pt>
                <c:pt idx="5">
                  <c:v>645</c:v>
                </c:pt>
                <c:pt idx="6">
                  <c:v>559</c:v>
                </c:pt>
                <c:pt idx="7">
                  <c:v>481</c:v>
                </c:pt>
                <c:pt idx="8">
                  <c:v>522</c:v>
                </c:pt>
                <c:pt idx="9">
                  <c:v>482</c:v>
                </c:pt>
                <c:pt idx="10">
                  <c:v>431</c:v>
                </c:pt>
                <c:pt idx="11">
                  <c:v>295</c:v>
                </c:pt>
                <c:pt idx="12">
                  <c:v>319</c:v>
                </c:pt>
                <c:pt idx="13">
                  <c:v>306</c:v>
                </c:pt>
                <c:pt idx="14">
                  <c:v>688</c:v>
                </c:pt>
                <c:pt idx="15">
                  <c:v>553</c:v>
                </c:pt>
                <c:pt idx="16">
                  <c:v>477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Region 3 (Bronx / Manhattan)</c:v>
                </c:pt>
              </c:strCache>
            </c:strRef>
          </c:tx>
          <c:spPr>
            <a:solidFill>
              <a:srgbClr val="E8702A"/>
            </a:solidFill>
            <a:ln w="31750" cap="flat">
              <a:solidFill>
                <a:srgbClr val="E870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02A"/>
              </a:solidFill>
              <a:ln w="9525" cap="flat">
                <a:solidFill>
                  <a:srgbClr val="E87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06</c:v>
                  </c:pt>
                  <c:pt idx="1">
                    <c:v>07</c:v>
                  </c:pt>
                  <c:pt idx="2">
                    <c:v>08</c:v>
                  </c:pt>
                  <c:pt idx="3">
                    <c:v>09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  <c:pt idx="13">
                    <c:v>19</c:v>
                  </c:pt>
                  <c:pt idx="14">
                    <c:v>20</c:v>
                  </c:pt>
                  <c:pt idx="15">
                    <c:v>21</c:v>
                  </c:pt>
                  <c:pt idx="16">
                    <c:v>22</c:v>
                  </c:pt>
                </c:lvl>
              </c:multiLvlStrCache>
            </c:multiLvlStrRef>
          </c:cat>
          <c:val>
            <c:numRef>
              <c:f>Sheet1!$E$2:$E$18</c:f>
              <c:numCache>
                <c:formatCode>General</c:formatCode>
                <c:ptCount val="17"/>
                <c:pt idx="0">
                  <c:v>618</c:v>
                </c:pt>
                <c:pt idx="1">
                  <c:v>554</c:v>
                </c:pt>
                <c:pt idx="2">
                  <c:v>578</c:v>
                </c:pt>
                <c:pt idx="3">
                  <c:v>554</c:v>
                </c:pt>
                <c:pt idx="4">
                  <c:v>604</c:v>
                </c:pt>
                <c:pt idx="5">
                  <c:v>615</c:v>
                </c:pt>
                <c:pt idx="6">
                  <c:v>566</c:v>
                </c:pt>
                <c:pt idx="7">
                  <c:v>420</c:v>
                </c:pt>
                <c:pt idx="8">
                  <c:v>465</c:v>
                </c:pt>
                <c:pt idx="9">
                  <c:v>461</c:v>
                </c:pt>
                <c:pt idx="10">
                  <c:v>379</c:v>
                </c:pt>
                <c:pt idx="11">
                  <c:v>342</c:v>
                </c:pt>
                <c:pt idx="12">
                  <c:v>325</c:v>
                </c:pt>
                <c:pt idx="13">
                  <c:v>341</c:v>
                </c:pt>
                <c:pt idx="14">
                  <c:v>598</c:v>
                </c:pt>
                <c:pt idx="15">
                  <c:v>769</c:v>
                </c:pt>
                <c:pt idx="16">
                  <c:v>613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63F"/>
                </a:solidFill>
                <a:latin typeface="Calibri"/>
              </a:rPr>
              <a:t>Approx. incidents per km² (top hotspots)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Approx. incidents per km² (top hotspots)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#19 Brooklyn</c:v>
                  </c:pt>
                  <c:pt idx="1">
                    <c:v>#20 Manhattan</c:v>
                  </c:pt>
                  <c:pt idx="2">
                    <c:v>#43 Bronx</c:v>
                  </c:pt>
                  <c:pt idx="3">
                    <c:v>#51 Bronx</c:v>
                  </c:pt>
                  <c:pt idx="4">
                    <c:v>#55 Bronx</c:v>
                  </c:pt>
                  <c:pt idx="5">
                    <c:v>#1 Queens</c:v>
                  </c:pt>
                  <c:pt idx="6">
                    <c:v>#14 Queens</c:v>
                  </c:pt>
                  <c:pt idx="7">
                    <c:v>#52 Bronx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262</c:v>
                </c:pt>
                <c:pt idx="1">
                  <c:v>183</c:v>
                </c:pt>
                <c:pt idx="2">
                  <c:v>307</c:v>
                </c:pt>
                <c:pt idx="3">
                  <c:v>435</c:v>
                </c:pt>
                <c:pt idx="4">
                  <c:v>301</c:v>
                </c:pt>
                <c:pt idx="5">
                  <c:v>143</c:v>
                </c:pt>
                <c:pt idx="6">
                  <c:v>51</c:v>
                </c:pt>
                <c:pt idx="7">
                  <c:v>416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3A4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question: can clustering find where shootings concentrate, and does a density-based method describe this better than K-Means? Data is the NYPD historic shooting file, 2006-2022.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structural fact: the data is victim-level. 27,312 rows but only 21,420 incidents. We keep N_VICTIMS before deduplicating so severity is not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X and Y in feet: distance-based clustering needs a metric space. Standardising would distort ground distance by a factor of 1.72 between axes.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charts are at victim level. Demographics are only valid at victim level, spatial analysis uses the incident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Silhouette is only used to compare K within K-Means. The straight boundaries cutting through dense areas are what a partition method must 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Silhouette for DBSCAN (0.06) is not comparable with K-Means because noise is excluded and shapes are non-convex. The chaining diagnostic is the more meaningful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Hotspot 19 in Brooklyn is still a very large cluster (46% of clustered points). The leaf method is the alternative if finer hotspots are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Silhouette values (K-Means 0.61, DBSCAN 0.06, HDBSCAN 0.33) are reported in the notebook but deliberately not used to rank the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 IDs are labels, not ranks. Ranking here is by total victims only for reporting. Hotspot 19 shows the limit of the default HDBSCAN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Stability is evidence, not proof: cluster IDs are meaningless across periods, so matching is done by proximity of centres. Bronx/Manhattan region 3 rose in 2021.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density measure uses a circular approximation from the RMS radius and is not a population-based risk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stressing that clustering describes where incidents concentrate; it does not explain why, and cannot estimate individual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64008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371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CLUSTER ANALYSIS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Shootings Concentrate in New York City?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404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 DBSCAN vs HDBSCAN on NYPD Shooting Incident Data, 2006–2022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760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|  Mahak Maurya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27,312 victim records collapse into 21,420 unique shooting incidents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analysis is the incident, not the victim, and the whole project is built on that choice.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NYPD data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27,312 rows × 21 columns, 2006–2022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quality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coordinates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incident table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INCIDENT_KEY, keep N_VICTIMS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Cluster locations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→ DBSCAN → HDBSCAN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Profile hotspots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severity, stability, density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7159752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663440" y="1417320"/>
          <a:ext cx="6949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572000" y="4389120"/>
            <a:ext cx="7159752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victim: 5,892 extra rows share an incident key with another row (not data errors).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3,521 incidents (16.44%) had more than one victim, so victim count is kept as a severity weight.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compare partition-based and density-based clustering on incident locations.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PREPARATION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fields are almost complete, so the analysis can rely on coordinates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X/Y coordinates (feet) are complete, so no incident had to be dropped.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fields mostly empty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rows; 5,892 repeated keys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test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keys: 0 conflicts in date, time, X, Y, borough, precinct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 lack lat/lon, X/Y are 100% present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X/Y in feet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become physical (no standardising)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7159752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663440" y="1417320"/>
          <a:ext cx="6949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572000" y="4389120"/>
            <a:ext cx="7159752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description and perpetrator fields are too sparse to model.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repeated keys never disagree, keeping the first row per incident is lossless for location and time.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Latitude/longitude are angles, so X/Y in feet are used for clustering (1,250 ft ≈ 381 m).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Shootings fell until 2019, doubled in 2020, and peak late at night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place both matter: the pattern is city-wide but not evenly spread across the map.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 view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10,933 · Bronx 7,937 · Queens 4,094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 time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records, 2006–2022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23:00, low around 09:00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profile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25–44 and 18–24 dominate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scatter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interior, separate landmasses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7159752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617720" y="1417320"/>
          <a:ext cx="35661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8183880" y="1417320"/>
          <a:ext cx="3520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4572000" y="4389120"/>
            <a:ext cx="7159752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was the low point (967 records); 2020 jumped to 1,948, back near 2006 levels.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climbs from about 10:00 to a peak at 23:00 (2,304 records).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skew young: 25–44 (12,281) and 18–24 (10,086).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K-MEANS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splits the city into 4 regions, but they mostly follow borough lines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stable, clean partition, yet it says little beyond geography, which motivates density-based methods.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 = 2 to 10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peaks at K = 4 (0.6135)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check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sharp elbow, drops shrink gradually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K = 4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hold 5%, 12%, 42%, 41% of incidents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1.0 across 5 random seeds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boroughs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vs BORO = 0.695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3520440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617720" y="1417320"/>
          <a:ext cx="3429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8229600" y="1371600"/>
            <a:ext cx="3502152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pic>
        <p:nvPicPr>
          <p:cNvPr id="26" name="Image 0" descr="k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417320"/>
            <a:ext cx="2926080" cy="283464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572000" y="4389120"/>
            <a:ext cx="7159752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is 100% Queens, cluster 2 is 92% Brooklyn, cluster 3 is 68% Bronx.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mixes Staten Island (57%) and south Brooklyn (43%).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labels every incident, so it has no way to flag isolated ones as noise.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DENSITY-BASED: DBSCAN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global distance threshold chains together most of the city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eps = 1,250 ft the top two clusters hold 80.8% of clustered points, so DBSCAN cannot isolate hotspots.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k-distance plot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 = 20, knee near 1,000–2,000 ft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eps 500 → 2,000 ft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falls, clusters merge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eps = 1,250 ft (381 m)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clusters, 9.67% noise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test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clusters = 80.8% of points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method with varying density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3520440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617720" y="1417320"/>
          <a:ext cx="3429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8229600" y="1371600"/>
            <a:ext cx="3502152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pic>
        <p:nvPicPr>
          <p:cNvPr id="26" name="Image 0" descr="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417320"/>
            <a:ext cx="2926080" cy="283464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572000" y="4389120"/>
            <a:ext cx="7159752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eps = 500 ft avoids one giant cluster, but then half the incidents are noise and 176 clusters appear.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750 ft upward the largest cluster stays at 36–41%: chaining, not hotspots.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eps cannot fit both dense Brooklyn/Bronx and sparse Staten Island.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DENSITY-BASED: HDBSCAN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HDBSCAN finds 56 hotspots and marks 18% of incidents as noise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handles varying density better, but the default setting still leaves one very large cluster.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min_cluster_size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 200, min_samples = 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50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clusters, 18.27% noise, median size 117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cluster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8,074 incidents (46.1%) in Brooklyn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leaf selection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clusters, 40.56% noise, largest 2.9%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(default), borough ARI 0.748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3520440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617720" y="1417320"/>
          <a:ext cx="3429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8229600" y="1371600"/>
            <a:ext cx="3502152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pic>
        <p:nvPicPr>
          <p:cNvPr id="26" name="Image 0" descr="h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417320"/>
            <a:ext cx="2926080" cy="283464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572000" y="4389120"/>
            <a:ext cx="7159752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values (25) over-fragment into 216 clusters and 38% noise; large values (75+) merge into a few big blobs.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leaf method breaks up the mega-cluster but discards 40% of incidents and no longer matches boroughs (ARI 0.05).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default HDBSCAN keeps 82% coverage; leaf gives finer detail.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HDBSCAN is the chosen model: varying density and noise handling, but still borough-aligned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metrics are not comparable across algorithms, so models are judged on structure, noise and purpose.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CRITERIA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vs borough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clusters follow borough lines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handling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sparse incidents stay unassigned?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 balance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or too fragmented?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describe on a map?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to the question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spatial concentrations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71600"/>
          <a:ext cx="71597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280160"/>
                <a:gridCol w="1280160"/>
                <a:gridCol w="13990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 vs BORO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1,250 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size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0" y="310896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3F5F8"/>
          </a:solidFill>
          <a:ln/>
        </p:spPr>
      </p:sp>
      <p:graphicFrame>
        <p:nvGraphicFramePr>
          <p:cNvPr id="25" name="Chart 0" descr=""/>
          <p:cNvGraphicFramePr/>
          <p:nvPr/>
        </p:nvGraphicFramePr>
        <p:xfrm>
          <a:off x="4617720" y="3154680"/>
          <a:ext cx="3429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8229600" y="3108960"/>
            <a:ext cx="3502152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stable but assigns every point and mirrors boroughs.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fewer noise points but chains into two giant clusters.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HDBSCAN: 56 hotspots at varying density, with sparse incidents kept as noise.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PROFILE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mega-clusters hold most incidents; the Bronx has the most small hotspots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incidents (17,507) fall inside a hotspot, but the biggest clusters cover very large areas.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STEPS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HDBSCAN labels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hotspots + noise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incidents &amp; victims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total victims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borough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99–100% for top clusters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peak late night or after midnight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extent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radius, 0.4 km to 3.1 km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7159752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663440" y="1417320"/>
          <a:ext cx="6949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572000" y="4389120"/>
            <a:ext cx="7159752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19 (Brooklyn): 8,074 incidents, 9,991 victims, radius 3.1 km, too broad to be a "neighbourhood".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by borough: Bronx 28, Queens 14, Brooklyn 6, Manhattan 4, Staten Island 4.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Brooklyn 97% of incidents in hotspots, Queens 61%, Bronx 66%.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PATTERNS &amp; STABILITY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2020 surge hit every region, and hotspots partly persist across two eras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city-wide; spatial structure is real but not identical from the first period to the second.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view by cluster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regions dip to 2019, jump in 2020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view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peaks (2,499 incidents), February 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view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23:00–01:00, lowest 07:00–09:00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2006–13 vs 2014–22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each period on its own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centres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Nearest-centre distances in metres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7159752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617720" y="1417320"/>
          <a:ext cx="70408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572000" y="4389120"/>
            <a:ext cx="7159752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seasonal and hourly shapes are similar across regions: a city-wide rhythm.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 found 45 clusters, period 2 only 18 (11,406 vs 10,014 incidents).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period-1 centres sit within 44–277 m of a period-2 centre, so some hotspots persist.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DENSITY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Bronx hotspots are the densest, even though Brooklyn has the largest cluster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burden per incident is similar everywhere (1.2–1.5); what differs is how tightly incidents pack.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53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WORKFLOW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1848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per incident and murder flag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00300" y="2317090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18258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518258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Murder-flagged incidents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3,706 of 21,420 (17.3%)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00300" y="321685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41802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41802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footprint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area from RMS radius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00300" y="4116629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17797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317797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proxy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per km² (not a risk rate)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00300" y="5016398"/>
            <a:ext cx="0" cy="182880"/>
          </a:xfrm>
          <a:prstGeom prst="line">
            <a:avLst/>
          </a:prstGeom>
          <a:noFill/>
          <a:ln w="25400">
            <a:solidFill>
              <a:srgbClr val="E870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217566"/>
            <a:ext cx="3886200" cy="680314"/>
          </a:xfrm>
          <a:prstGeom prst="roundRect">
            <a:avLst>
              <a:gd name="adj" fmla="val 9409"/>
            </a:avLst>
          </a:prstGeom>
          <a:solidFill>
            <a:srgbClr val="1226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217566"/>
            <a:ext cx="3611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population denominator in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7159752" cy="2926080"/>
          </a:xfrm>
          <a:prstGeom prst="roundRect">
            <a:avLst>
              <a:gd name="adj" fmla="val 1875"/>
            </a:avLst>
          </a:prstGeom>
          <a:solidFill>
            <a:srgbClr val="F3F5F8"/>
          </a:solidFill>
          <a:ln/>
        </p:spPr>
      </p:sp>
      <p:graphicFrame>
        <p:nvGraphicFramePr>
          <p:cNvPr id="24" name="Chart 0" descr=""/>
          <p:cNvGraphicFramePr/>
          <p:nvPr/>
        </p:nvGraphicFramePr>
        <p:xfrm>
          <a:off x="4663440" y="1417320"/>
          <a:ext cx="6949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572000" y="4389120"/>
            <a:ext cx="7159752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51 and 52 (Bronx): about 420–435 incidents per km² vs 262 for the large Brooklyn cluster.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Murder-flagged share is 15–23% in the top clusters; hotspot 14 (Queens) is highest of these at 22.6%.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is a descriptive proxy only; it is not adjusted for population.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108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LIMITATIONS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Density-based clustering finds finer hotspots than K-Means, but the largest clusters need care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DEBDD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05332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</a:t>
            </a:r>
            <a:pPr indent="0" marL="0">
              <a:buNone/>
            </a:pPr>
            <a:r>
              <a:rPr lang="en-US" sz="14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HDBSCAN for local hotspots, refine the mega-cluster, and read results as descriptive, not causal.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664768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828800" cy="1920240"/>
          </a:xfrm>
          <a:prstGeom prst="roundRect">
            <a:avLst>
              <a:gd name="adj" fmla="val 3500"/>
            </a:avLst>
          </a:prstGeom>
          <a:solidFill>
            <a:srgbClr val="E3EA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874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21,420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60604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from 27,312 victim 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691640"/>
            <a:ext cx="1828800" cy="1920240"/>
          </a:xfrm>
          <a:prstGeom prst="roundRect">
            <a:avLst>
              <a:gd name="adj" fmla="val 3500"/>
            </a:avLst>
          </a:prstGeom>
          <a:solidFill>
            <a:srgbClr val="1226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423160" y="1874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532888" y="260604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hotspots covering 81.7% of incidents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828800" cy="1920240"/>
          </a:xfrm>
          <a:prstGeom prst="roundRect">
            <a:avLst>
              <a:gd name="adj" fmla="val 3500"/>
            </a:avLst>
          </a:prstGeom>
          <a:solidFill>
            <a:srgbClr val="E3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977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70916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 borough ARI: mostly borough lines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3794760"/>
            <a:ext cx="1828800" cy="1920240"/>
          </a:xfrm>
          <a:prstGeom prst="roundRect">
            <a:avLst>
              <a:gd name="adj" fmla="val 3500"/>
            </a:avLst>
          </a:prstGeom>
          <a:solidFill>
            <a:srgbClr val="E3EA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23160" y="3977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80.8%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2532888" y="470916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points in just two chained clusters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371600"/>
            <a:ext cx="7159752" cy="4526280"/>
          </a:xfrm>
          <a:prstGeom prst="roundRect">
            <a:avLst>
              <a:gd name="adj" fmla="val 1212"/>
            </a:avLst>
          </a:prstGeom>
          <a:solidFill>
            <a:srgbClr val="F3F5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00600" y="14630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conclusions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783080"/>
            <a:ext cx="67665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Incident-level data (with victim counts kept) is the correct base for spatial analysis.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a stable baseline but reproduces boroughs and cannot flag noise.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chains through dense areas; HDBSCAN handles varying density better.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city-wide (summer, late night, 2020 surge); hotspots partly persist over time.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794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114800"/>
            <a:ext cx="67665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19 (Brooklyn) is still very large; try the leaf method or larger sub-clustering.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population denominator, so no risk rates. Results are descriptive, not causal.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add population data and test sub-clustering inside the mega-clusters.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Cluster Analysis of NYC Shooting Incidents</dc:title>
  <dc:subject>PptxGenJS Presentation</dc:subject>
  <dc:creator>PptxGenJS</dc:creator>
  <cp:lastModifiedBy>PptxGenJS</cp:lastModifiedBy>
  <cp:revision>1</cp:revision>
  <dcterms:created xsi:type="dcterms:W3CDTF">2026-09-23T18:09:52Z</dcterms:created>
  <dcterms:modified xsi:type="dcterms:W3CDTF">2026-09-23T18:09:52Z</dcterms:modified>
</cp:coreProperties>
</file>